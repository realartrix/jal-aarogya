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94760" y="1234440"/>
            <a:ext cx="7315200" cy="7315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>
                <a:solidFill>
                  <a:srgbClr val="141D22"/>
                </a:solidFill>
                <a:latin typeface="Aptos"/>
              </a:rPr>
              <a:t>JalAarogya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1993392"/>
            <a:ext cx="68580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27E76"/>
                </a:solidFill>
                <a:latin typeface="Aptos"/>
              </a:rPr>
              <a:t>AI-powered River Health &amp; Recovery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2468880"/>
            <a:ext cx="658368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B696C"/>
                </a:solidFill>
                <a:latin typeface="Aptos"/>
              </a:rPr>
              <a:t>Godavari • Nashik • Kumbh 2027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3154680"/>
            <a:ext cx="7040880" cy="1170432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69080" y="3401568"/>
            <a:ext cx="649224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dirty="0">
                <a:solidFill>
                  <a:srgbClr val="127E76"/>
                </a:solidFill>
                <a:latin typeface="Aptos"/>
              </a:rPr>
              <a:t>OBSERVE  →  DIAGNOSE  →  PREDICT  →  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813048"/>
            <a:ext cx="6537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Turning river data into an operational decision clock.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12462" y="4626864"/>
            <a:ext cx="69494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  <a:defRPr sz="1800" b="1"/>
            </a:pPr>
            <a:r>
              <a:rPr dirty="0"/>
              <a:t>Team </a:t>
            </a:r>
            <a:r>
              <a:rPr dirty="0" err="1"/>
              <a:t>Yukti</a:t>
            </a:r>
            <a:endParaRPr sz="1600" b="1" dirty="0">
              <a:solidFill>
                <a:srgbClr val="141D22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822191" y="5669280"/>
            <a:ext cx="2880360" cy="329184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FAF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22191" y="5687568"/>
            <a:ext cx="288036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89E43"/>
                </a:solidFill>
                <a:latin typeface="Aptos"/>
              </a:rPr>
              <a:t>REAL • SCALABLE • KUMBH-READY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3419" y="5056632"/>
            <a:ext cx="6583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 err="1"/>
              <a:t>Parthsarthi</a:t>
            </a:r>
            <a:r>
              <a:rPr dirty="0"/>
              <a:t>  •  </a:t>
            </a:r>
            <a:r>
              <a:rPr dirty="0" err="1"/>
              <a:t>Aryaman</a:t>
            </a:r>
            <a:r>
              <a:rPr dirty="0"/>
              <a:t> </a:t>
            </a:r>
            <a:r>
              <a:rPr dirty="0" err="1"/>
              <a:t>Tripathy</a:t>
            </a:r>
            <a:r>
              <a:rPr dirty="0"/>
              <a:t>  •  </a:t>
            </a:r>
            <a:r>
              <a:rPr dirty="0" err="1"/>
              <a:t>Parth</a:t>
            </a:r>
            <a:r>
              <a:rPr dirty="0"/>
              <a:t> Sharma  •  GVS </a:t>
            </a:r>
            <a:r>
              <a:rPr dirty="0" err="1"/>
              <a:t>Pavan</a:t>
            </a:r>
            <a:r>
              <a:rPr dirty="0"/>
              <a:t> Kumar  •  </a:t>
            </a:r>
            <a:r>
              <a:rPr dirty="0" err="1"/>
              <a:t>Payal</a:t>
            </a:r>
            <a:r>
              <a:rPr dirty="0"/>
              <a:t> </a:t>
            </a:r>
            <a:r>
              <a:rPr dirty="0" err="1"/>
              <a:t>Khakre</a:t>
            </a:r>
            <a:endParaRPr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95" y="640080"/>
            <a:ext cx="3230392" cy="482803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199" y="5262372"/>
            <a:ext cx="426757" cy="129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7955279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1D22"/>
                </a:solidFill>
                <a:latin typeface="Aptos"/>
              </a:rPr>
              <a:t>The problem in 5W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301752"/>
            <a:ext cx="3337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96C"/>
                </a:solidFill>
                <a:latin typeface="Aptos"/>
              </a:rPr>
              <a:t>WHY THIS MATTERS</a:t>
            </a:r>
          </a:p>
        </p:txBody>
      </p:sp>
      <p:sp>
        <p:nvSpPr>
          <p:cNvPr id="5" name="Oval 4"/>
          <p:cNvSpPr/>
          <p:nvPr/>
        </p:nvSpPr>
        <p:spPr>
          <a:xfrm>
            <a:off x="5230368" y="2057400"/>
            <a:ext cx="1691640" cy="1691640"/>
          </a:xfrm>
          <a:prstGeom prst="ellipse">
            <a:avLst/>
          </a:prstGeom>
          <a:solidFill>
            <a:srgbClr val="E2F3F0"/>
          </a:solidFill>
          <a:ln w="254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49240" y="2441448"/>
            <a:ext cx="1444752" cy="65836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127E76"/>
                </a:solidFill>
                <a:latin typeface="Aptos"/>
              </a:rPr>
              <a:t>GODAVARI
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971800" cy="1417320"/>
          </a:xfrm>
          <a:prstGeom prst="roundRect">
            <a:avLst/>
          </a:prstGeom>
          <a:solidFill>
            <a:srgbClr val="E5EFF8"/>
          </a:solidFill>
          <a:ln w="1270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C6BA3"/>
                </a:solidFill>
                <a:latin typeface="Aptos"/>
              </a:rPr>
              <a:t>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25603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D22"/>
                </a:solidFill>
                <a:latin typeface="Aptos"/>
              </a:rPr>
              <a:t>AI recovery + decision-support
for river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325880"/>
            <a:ext cx="2971800" cy="1417320"/>
          </a:xfrm>
          <a:prstGeom prst="roundRect">
            <a:avLst/>
          </a:prstGeom>
          <a:solidFill>
            <a:srgbClr val="FAE8E6"/>
          </a:solidFill>
          <a:ln w="12700">
            <a:solidFill>
              <a:srgbClr val="F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50808" y="1490472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WHY?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1847088"/>
            <a:ext cx="25603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D22"/>
                </a:solidFill>
                <a:latin typeface="Aptos"/>
              </a:rPr>
              <a:t>Grab samples arrive late;
river conditions change fast.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2971800" cy="1417320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FAF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370831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89E43"/>
                </a:solidFill>
                <a:latin typeface="Aptos"/>
              </a:rPr>
              <a:t>WHO?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727448"/>
            <a:ext cx="25603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D22"/>
                </a:solidFill>
                <a:latin typeface="Aptos"/>
              </a:rPr>
              <a:t>NMC • water agencies •
district + event teams.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4206240"/>
            <a:ext cx="2971800" cy="1417320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0808" y="4370831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WHEN?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4727448"/>
            <a:ext cx="256032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41D22"/>
                </a:solidFill>
                <a:latin typeface="Aptos"/>
              </a:rPr>
              <a:t>Before • during • after
major bathing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8" y="4617720"/>
            <a:ext cx="2468880" cy="329184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4636007"/>
            <a:ext cx="246888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27E76"/>
                </a:solidFill>
                <a:latin typeface="Aptos"/>
              </a:rPr>
              <a:t>WHERE?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010912"/>
            <a:ext cx="438912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41D22"/>
                </a:solidFill>
                <a:latin typeface="Aptos"/>
              </a:rPr>
              <a:t>Upstream control  →  Ramkund  →  downstream recovery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20440" y="2039112"/>
            <a:ext cx="1709928" cy="704088"/>
          </a:xfrm>
          <a:prstGeom prst="line">
            <a:avLst/>
          </a:prstGeom>
          <a:ln w="2540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922008" y="2039112"/>
            <a:ext cx="1627632" cy="704088"/>
          </a:xfrm>
          <a:prstGeom prst="line">
            <a:avLst/>
          </a:prstGeom>
          <a:ln w="2540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20440" y="3703320"/>
            <a:ext cx="1709928" cy="960120"/>
          </a:xfrm>
          <a:prstGeom prst="line">
            <a:avLst/>
          </a:prstGeom>
          <a:ln w="2540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922008" y="3703320"/>
            <a:ext cx="1627632" cy="960120"/>
          </a:xfrm>
          <a:prstGeom prst="line">
            <a:avLst/>
          </a:prstGeom>
          <a:ln w="2540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5715000"/>
            <a:ext cx="10972800" cy="621792"/>
          </a:xfrm>
          <a:prstGeom prst="roundRect">
            <a:avLst/>
          </a:prstGeom>
          <a:solidFill>
            <a:srgbClr val="141D22"/>
          </a:solidFill>
          <a:ln w="12700">
            <a:solidFill>
              <a:srgbClr val="141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870448"/>
            <a:ext cx="104241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ptos"/>
              </a:rPr>
              <a:t>THE GAP  |  Measurement • Time • Diagnosis • Recovery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7955279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1D22"/>
                </a:solidFill>
                <a:latin typeface="Aptos"/>
              </a:rPr>
              <a:t>Conventional vs JalAarogya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301752"/>
            <a:ext cx="3337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96C"/>
                </a:solidFill>
                <a:latin typeface="Aptos"/>
              </a:rPr>
              <a:t>FROM MONITORING →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5303520" cy="502920"/>
          </a:xfrm>
          <a:prstGeom prst="roundRect">
            <a:avLst/>
          </a:prstGeom>
          <a:solidFill>
            <a:srgbClr val="FAE8E6"/>
          </a:solidFill>
          <a:ln w="12700">
            <a:solidFill>
              <a:srgbClr val="F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4937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BE4C46"/>
                </a:solidFill>
                <a:latin typeface="Aptos"/>
              </a:rPr>
              <a:t>CONVENTIONAL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051560"/>
            <a:ext cx="5303520" cy="502920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161288"/>
            <a:ext cx="493776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7E76"/>
                </a:solidFill>
                <a:latin typeface="Aptos"/>
              </a:rPr>
              <a:t>JALAAROGYA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029967"/>
            <a:ext cx="347472" cy="347472"/>
          </a:xfrm>
          <a:prstGeom prst="ellipse">
            <a:avLst/>
          </a:prstGeom>
          <a:solidFill>
            <a:srgbClr val="FAE8E6"/>
          </a:solidFill>
          <a:ln w="1905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E4C46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84248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84248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Grab sample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79" y="253288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283463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2990087"/>
            <a:ext cx="347472" cy="347472"/>
          </a:xfrm>
          <a:prstGeom prst="ellipse">
            <a:avLst/>
          </a:prstGeom>
          <a:solidFill>
            <a:srgbClr val="FAE8E6"/>
          </a:solidFill>
          <a:ln w="1905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E4C46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44368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944368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Wait for result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54679" y="349300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" y="379475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3950207"/>
            <a:ext cx="347472" cy="347472"/>
          </a:xfrm>
          <a:prstGeom prst="ellipse">
            <a:avLst/>
          </a:prstGeom>
          <a:solidFill>
            <a:srgbClr val="FAE8E6"/>
          </a:solidFill>
          <a:ln w="1905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959351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E4C46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04487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904487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Static reading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79" y="445312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94360" y="475487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4910327"/>
            <a:ext cx="347472" cy="347472"/>
          </a:xfrm>
          <a:prstGeom prst="ellipse">
            <a:avLst/>
          </a:prstGeom>
          <a:solidFill>
            <a:srgbClr val="FAE8E6"/>
          </a:solidFill>
          <a:ln w="1905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919471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E4C46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64607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864607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Reactive 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187451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29400" y="2029967"/>
            <a:ext cx="347472" cy="347472"/>
          </a:xfrm>
          <a:prstGeom prst="ellipse">
            <a:avLst/>
          </a:prstGeom>
          <a:solidFill>
            <a:srgbClr val="E2F3F0"/>
          </a:solidFill>
          <a:ln w="1905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2039112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1984248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Sense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984248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Satellite + IoT + field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253288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46520" y="283463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29400" y="2990087"/>
            <a:ext cx="347472" cy="347472"/>
          </a:xfrm>
          <a:prstGeom prst="ellipse">
            <a:avLst/>
          </a:prstGeom>
          <a:solidFill>
            <a:srgbClr val="E2F3F0"/>
          </a:solidFill>
          <a:ln w="1905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2999232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944368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944368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Diagnose + predict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06840" y="349300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46520" y="379475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629400" y="3950207"/>
            <a:ext cx="347472" cy="347472"/>
          </a:xfrm>
          <a:prstGeom prst="ellipse">
            <a:avLst/>
          </a:prstGeom>
          <a:solidFill>
            <a:srgbClr val="E2F3F0"/>
          </a:solidFill>
          <a:ln w="1905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29400" y="3959351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3904487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Clock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904487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Recovery estimate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06840" y="4453127"/>
            <a:ext cx="0" cy="210313"/>
          </a:xfrm>
          <a:prstGeom prst="line">
            <a:avLst/>
          </a:prstGeom>
          <a:ln w="2159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446520" y="4754879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6629400" y="4910327"/>
            <a:ext cx="347472" cy="347472"/>
          </a:xfrm>
          <a:prstGeom prst="ellipse">
            <a:avLst/>
          </a:prstGeom>
          <a:solidFill>
            <a:srgbClr val="E2F3F0"/>
          </a:solidFill>
          <a:ln w="1905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29400" y="4919471"/>
            <a:ext cx="347472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4864607"/>
            <a:ext cx="10972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864607"/>
            <a:ext cx="3017520" cy="32918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41D22"/>
                </a:solidFill>
                <a:latin typeface="Aptos"/>
              </a:rPr>
              <a:t>Recommend + verify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089904" y="960120"/>
            <a:ext cx="0" cy="5029200"/>
          </a:xfrm>
          <a:prstGeom prst="line">
            <a:avLst/>
          </a:prstGeom>
          <a:ln w="1905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94360" y="5760720"/>
            <a:ext cx="5120640" cy="530352"/>
          </a:xfrm>
          <a:prstGeom prst="roundRect">
            <a:avLst/>
          </a:prstGeom>
          <a:solidFill>
            <a:srgbClr val="FAE8E6"/>
          </a:solidFill>
          <a:ln w="12700">
            <a:solidFill>
              <a:srgbClr val="F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" y="5897880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BE4C46"/>
                </a:solidFill>
                <a:latin typeface="Aptos"/>
              </a:rPr>
              <a:t>LATE  •  FRAGMENTED  •  REACTIVE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46520" y="5760720"/>
            <a:ext cx="5120640" cy="530352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29400" y="5897880"/>
            <a:ext cx="475488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TIMELY  •  UNIFIED  •  ACTIONABLE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7955279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1D22"/>
                </a:solidFill>
                <a:latin typeface="Aptos"/>
              </a:rPr>
              <a:t>Input → Process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301752"/>
            <a:ext cx="3337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96C"/>
                </a:solidFill>
                <a:latin typeface="Aptos"/>
              </a:rPr>
              <a:t>THE DATA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3429000" cy="566928"/>
          </a:xfrm>
          <a:prstGeom prst="roundRect">
            <a:avLst/>
          </a:prstGeom>
          <a:solidFill>
            <a:srgbClr val="E5EFF8"/>
          </a:solidFill>
          <a:ln w="12700">
            <a:solidFill>
              <a:srgbClr val="E5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161288"/>
            <a:ext cx="30906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C6BA3"/>
                </a:solidFill>
                <a:latin typeface="Aptos"/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87952" y="100584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87952" y="1005840"/>
            <a:ext cx="3429000" cy="566928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52544" y="1161288"/>
            <a:ext cx="30906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7E76"/>
                </a:solidFill>
                <a:latin typeface="Aptos"/>
              </a:rPr>
              <a:t>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2983" y="100584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72983" y="1005840"/>
            <a:ext cx="3429000" cy="566928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FAF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37575" y="1161288"/>
            <a:ext cx="3090672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89E43"/>
                </a:solidFill>
                <a:latin typeface="Aptos"/>
              </a:rPr>
              <a:t>OUTPUT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1847088"/>
            <a:ext cx="621792" cy="621792"/>
          </a:xfrm>
          <a:prstGeom prst="ellipse">
            <a:avLst/>
          </a:prstGeom>
          <a:solidFill>
            <a:srgbClr val="E5EFF8"/>
          </a:solidFill>
          <a:ln w="254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1993392"/>
            <a:ext cx="6217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C6BA3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1865376"/>
            <a:ext cx="17830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C6BA3"/>
                </a:solidFill>
                <a:latin typeface="Aptos"/>
              </a:rPr>
              <a:t>SATELLITE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157984"/>
            <a:ext cx="178308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D22"/>
                </a:solidFill>
                <a:latin typeface="Aptos"/>
              </a:rPr>
              <a:t>Sentinel-2 L2A
Landsat 8/9
Sentinel-1 SAR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3081528"/>
            <a:ext cx="621792" cy="621792"/>
          </a:xfrm>
          <a:prstGeom prst="ellipse">
            <a:avLst/>
          </a:prstGeom>
          <a:solidFill>
            <a:srgbClr val="E2F3F0"/>
          </a:solidFill>
          <a:ln w="254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3227832"/>
            <a:ext cx="6217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3099816"/>
            <a:ext cx="17830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GROUND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392424"/>
            <a:ext cx="178308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D22"/>
                </a:solidFill>
                <a:latin typeface="Aptos"/>
              </a:rPr>
              <a:t>7-sensor / IoT
pH • DO • turbidity
+ other field signals</a:t>
            </a:r>
          </a:p>
        </p:txBody>
      </p:sp>
      <p:sp>
        <p:nvSpPr>
          <p:cNvPr id="22" name="Oval 2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FAF1DC"/>
          </a:solidFill>
          <a:ln w="254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462272"/>
            <a:ext cx="621792" cy="237744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D89E43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334256"/>
            <a:ext cx="1783080" cy="2560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89E43"/>
                </a:solidFill>
                <a:latin typeface="Aptos"/>
              </a:rPr>
              <a:t>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626864"/>
            <a:ext cx="1783080" cy="6858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41D22"/>
                </a:solidFill>
                <a:latin typeface="Aptos"/>
              </a:rPr>
              <a:t>Weather • flow
crowd • drains
municipal 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1810512"/>
            <a:ext cx="2697480" cy="768096"/>
          </a:xfrm>
          <a:prstGeom prst="roundRect">
            <a:avLst/>
          </a:prstGeom>
          <a:solidFill>
            <a:srgbClr val="E5EFF8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1901952"/>
            <a:ext cx="56692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6BA3"/>
                </a:solidFill>
                <a:latin typeface="Aptos"/>
              </a:rPr>
              <a:t>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1883664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Cloud / shadow
quality check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16168" y="2578608"/>
            <a:ext cx="0" cy="201168"/>
          </a:xfrm>
          <a:prstGeom prst="line">
            <a:avLst/>
          </a:prstGeom>
          <a:ln w="2286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0" y="2880360"/>
            <a:ext cx="2697480" cy="768096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2971800"/>
            <a:ext cx="56692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MASK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2953512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Water extraction
+ indices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16168" y="3648456"/>
            <a:ext cx="0" cy="201168"/>
          </a:xfrm>
          <a:prstGeom prst="line">
            <a:avLst/>
          </a:prstGeom>
          <a:ln w="2286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3950208"/>
            <a:ext cx="2697480" cy="768096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041648"/>
            <a:ext cx="56692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89E43"/>
                </a:solidFill>
                <a:latin typeface="Aptos"/>
              </a:rPr>
              <a:t>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4023360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Autocorrelation
+ recovery fit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16168" y="4718304"/>
            <a:ext cx="0" cy="201168"/>
          </a:xfrm>
          <a:prstGeom prst="line">
            <a:avLst/>
          </a:prstGeom>
          <a:ln w="2286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0" y="5020056"/>
            <a:ext cx="2697480" cy="768096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54880" y="5111496"/>
            <a:ext cx="566928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7E76"/>
                </a:solidFill>
                <a:latin typeface="Aptos"/>
              </a:rPr>
              <a:t>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5093208"/>
            <a:ext cx="1627632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Predict • rank
recommend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1810512"/>
            <a:ext cx="278892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385048" y="2011680"/>
            <a:ext cx="393192" cy="393192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42832" y="1901952"/>
            <a:ext cx="175564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27E76"/>
                </a:solidFill>
                <a:latin typeface="Aptos"/>
              </a:rPr>
              <a:t>RECOVERY CLOCK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2832" y="2176272"/>
            <a:ext cx="1755648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141D22"/>
                </a:solidFill>
                <a:latin typeface="Aptos"/>
              </a:rPr>
              <a:t>T½ — time to 50% disturbance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93024" y="2889504"/>
            <a:ext cx="278892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85048" y="3090672"/>
            <a:ext cx="393192" cy="393192"/>
          </a:xfrm>
          <a:prstGeom prst="ellipse">
            <a:avLst/>
          </a:prstGeom>
          <a:solidFill>
            <a:srgbClr val="BE4C46"/>
          </a:solidFill>
          <a:ln w="1270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42832" y="2980944"/>
            <a:ext cx="175564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BE4C46"/>
                </a:solidFill>
                <a:latin typeface="Aptos"/>
              </a:rPr>
              <a:t>RISK / STATUS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3255264"/>
            <a:ext cx="1755648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141D22"/>
                </a:solidFill>
                <a:latin typeface="Aptos"/>
              </a:rPr>
              <a:t>Reach-level health signal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4" y="3968496"/>
            <a:ext cx="278892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385048" y="4169663"/>
            <a:ext cx="393192" cy="393192"/>
          </a:xfrm>
          <a:prstGeom prst="ellipse">
            <a:avLst/>
          </a:prstGeom>
          <a:solidFill>
            <a:srgbClr val="D89E43"/>
          </a:solidFill>
          <a:ln w="127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42832" y="4059935"/>
            <a:ext cx="175564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89E43"/>
                </a:solidFill>
                <a:latin typeface="Aptos"/>
              </a:rPr>
              <a:t>ACTION WINDOW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42832" y="4334256"/>
            <a:ext cx="1755648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141D22"/>
                </a:solidFill>
                <a:latin typeface="Aptos"/>
              </a:rPr>
              <a:t>24 / 48 / 72 h decision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93024" y="5047488"/>
            <a:ext cx="2788920" cy="850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385048" y="5248655"/>
            <a:ext cx="393192" cy="393192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42832" y="5138927"/>
            <a:ext cx="1755648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C6BA3"/>
                </a:solidFill>
                <a:latin typeface="Aptos"/>
              </a:rPr>
              <a:t>AUDIT TRAIL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42832" y="5413248"/>
            <a:ext cx="1755648" cy="34747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141D22"/>
                </a:solidFill>
                <a:latin typeface="Aptos"/>
              </a:rPr>
              <a:t>Evidence → action → verify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236208"/>
            <a:ext cx="1097280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5B696C"/>
                </a:solidFill>
                <a:latin typeface="Aptos"/>
              </a:rPr>
              <a:t>7 sensor parameters can anchor the AI with live ground truth.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7955279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1D22"/>
                </a:solidFill>
                <a:latin typeface="Aptos"/>
              </a:rPr>
              <a:t>What the system actually computes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301752"/>
            <a:ext cx="3337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96C"/>
                </a:solidFill>
                <a:latin typeface="Aptos"/>
              </a:rPr>
              <a:t>PARAMETERS + AI DECISION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5840"/>
            <a:ext cx="37947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25296"/>
            <a:ext cx="32461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27E76"/>
                </a:solidFill>
                <a:latin typeface="Aptos"/>
              </a:rPr>
              <a:t>RIVER VITALS</a:t>
            </a:r>
          </a:p>
        </p:txBody>
      </p:sp>
      <p:sp>
        <p:nvSpPr>
          <p:cNvPr id="7" name="Oval 6"/>
          <p:cNvSpPr/>
          <p:nvPr/>
        </p:nvSpPr>
        <p:spPr>
          <a:xfrm>
            <a:off x="1572768" y="2331720"/>
            <a:ext cx="1664208" cy="1664208"/>
          </a:xfrm>
          <a:prstGeom prst="ellipse">
            <a:avLst/>
          </a:prstGeom>
          <a:solidFill>
            <a:srgbClr val="E2F3F0"/>
          </a:solidFill>
          <a:ln w="254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00784" y="2770632"/>
            <a:ext cx="141732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27E76"/>
                </a:solidFill>
                <a:latin typeface="Aptos"/>
              </a:rPr>
              <a:t>WATER
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01952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C6BA3"/>
                </a:solidFill>
                <a:latin typeface="Aptos"/>
              </a:rPr>
              <a:t>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01952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27E76"/>
                </a:solidFill>
                <a:latin typeface="Aptos"/>
              </a:rPr>
              <a:t>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6052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178807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D89E43"/>
                </a:solidFill>
                <a:latin typeface="Aptos"/>
              </a:rPr>
              <a:t>Turbidity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3552" y="416052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73552" y="4178807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E4C46"/>
                </a:solidFill>
                <a:latin typeface="Aptos"/>
              </a:rPr>
              <a:t>Temp.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6636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184648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C6BA3"/>
                </a:solidFill>
                <a:latin typeface="Aptos"/>
              </a:rPr>
              <a:t>Conductivity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16636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5184648"/>
            <a:ext cx="1143000" cy="24688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27E76"/>
                </a:solidFill>
                <a:latin typeface="Aptos"/>
              </a:rPr>
              <a:t>ORP / other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2240280"/>
            <a:ext cx="365760" cy="548640"/>
          </a:xfrm>
          <a:prstGeom prst="line">
            <a:avLst/>
          </a:prstGeom>
          <a:ln w="1905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743200" y="2240280"/>
            <a:ext cx="502920" cy="548640"/>
          </a:xfrm>
          <a:prstGeom prst="line">
            <a:avLst/>
          </a:prstGeom>
          <a:ln w="1905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508760" y="3730752"/>
            <a:ext cx="457200" cy="429768"/>
          </a:xfrm>
          <a:prstGeom prst="line">
            <a:avLst/>
          </a:prstGeom>
          <a:ln w="1905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2788920" y="3730752"/>
            <a:ext cx="457200" cy="429768"/>
          </a:xfrm>
          <a:prstGeom prst="line">
            <a:avLst/>
          </a:prstGeom>
          <a:ln w="19050">
            <a:solidFill>
              <a:srgbClr val="DA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53712" y="1005840"/>
            <a:ext cx="3749039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1225296"/>
            <a:ext cx="320040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2C6BA3"/>
                </a:solidFill>
                <a:latin typeface="Aptos"/>
              </a:rPr>
              <a:t>RECOVERY ENGINE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0" y="1847088"/>
            <a:ext cx="438912" cy="438912"/>
          </a:xfrm>
          <a:prstGeom prst="ellipse">
            <a:avLst/>
          </a:prstGeom>
          <a:solidFill>
            <a:srgbClr val="E5EFF8"/>
          </a:solidFill>
          <a:ln w="1905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1938528"/>
            <a:ext cx="4389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C6BA3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1837944"/>
            <a:ext cx="960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6BA3"/>
                </a:solidFill>
                <a:latin typeface="Aptos"/>
              </a:rPr>
              <a:t>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837944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Compare with control / normal state</a:t>
            </a:r>
          </a:p>
        </p:txBody>
      </p:sp>
      <p:sp>
        <p:nvSpPr>
          <p:cNvPr id="31" name="Oval 30"/>
          <p:cNvSpPr/>
          <p:nvPr/>
        </p:nvSpPr>
        <p:spPr>
          <a:xfrm>
            <a:off x="4846320" y="2651760"/>
            <a:ext cx="438912" cy="438912"/>
          </a:xfrm>
          <a:prstGeom prst="ellipse">
            <a:avLst/>
          </a:prstGeom>
          <a:solidFill>
            <a:srgbClr val="E5EFF8"/>
          </a:solidFill>
          <a:ln w="1905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2743200"/>
            <a:ext cx="4389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C6BA3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2642616"/>
            <a:ext cx="960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6BA3"/>
                </a:solidFill>
                <a:latin typeface="Aptos"/>
              </a:rPr>
              <a:t>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642616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Excess index ΔX(t)</a:t>
            </a:r>
          </a:p>
        </p:txBody>
      </p:sp>
      <p:sp>
        <p:nvSpPr>
          <p:cNvPr id="35" name="Oval 34"/>
          <p:cNvSpPr/>
          <p:nvPr/>
        </p:nvSpPr>
        <p:spPr>
          <a:xfrm>
            <a:off x="4846320" y="3456432"/>
            <a:ext cx="438912" cy="438912"/>
          </a:xfrm>
          <a:prstGeom prst="ellipse">
            <a:avLst/>
          </a:prstGeom>
          <a:solidFill>
            <a:srgbClr val="E5EFF8"/>
          </a:solidFill>
          <a:ln w="1905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46320" y="3547872"/>
            <a:ext cx="4389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C6BA3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3447288"/>
            <a:ext cx="960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6BA3"/>
                </a:solidFill>
                <a:latin typeface="Aptos"/>
              </a:rPr>
              <a:t>Memory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47288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Autocorrelation ρ(τ)</a:t>
            </a:r>
          </a:p>
        </p:txBody>
      </p:sp>
      <p:sp>
        <p:nvSpPr>
          <p:cNvPr id="39" name="Oval 38"/>
          <p:cNvSpPr/>
          <p:nvPr/>
        </p:nvSpPr>
        <p:spPr>
          <a:xfrm>
            <a:off x="4846320" y="4261104"/>
            <a:ext cx="438912" cy="438912"/>
          </a:xfrm>
          <a:prstGeom prst="ellipse">
            <a:avLst/>
          </a:prstGeom>
          <a:solidFill>
            <a:srgbClr val="E5EFF8"/>
          </a:solidFill>
          <a:ln w="1905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4352544"/>
            <a:ext cx="4389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C6BA3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251960"/>
            <a:ext cx="960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6BA3"/>
                </a:solidFill>
                <a:latin typeface="Aptos"/>
              </a:rPr>
              <a:t>Clock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251960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T½ = τc × ln(2)</a:t>
            </a:r>
          </a:p>
        </p:txBody>
      </p:sp>
      <p:sp>
        <p:nvSpPr>
          <p:cNvPr id="43" name="Oval 42"/>
          <p:cNvSpPr/>
          <p:nvPr/>
        </p:nvSpPr>
        <p:spPr>
          <a:xfrm>
            <a:off x="4846320" y="5065776"/>
            <a:ext cx="438912" cy="438912"/>
          </a:xfrm>
          <a:prstGeom prst="ellipse">
            <a:avLst/>
          </a:prstGeom>
          <a:solidFill>
            <a:srgbClr val="E5EFF8"/>
          </a:solidFill>
          <a:ln w="1905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0" y="5157216"/>
            <a:ext cx="438912" cy="20116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2C6BA3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5056632"/>
            <a:ext cx="96012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6BA3"/>
                </a:solidFill>
                <a:latin typeface="Aptos"/>
              </a:rPr>
              <a:t>Decision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056632"/>
            <a:ext cx="1508760" cy="5029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41D22"/>
                </a:solidFill>
                <a:latin typeface="Aptos"/>
              </a:rPr>
              <a:t>Gap vs recovery → 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92040" y="5669280"/>
            <a:ext cx="3063240" cy="502920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10912" y="5788152"/>
            <a:ext cx="283464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27E76"/>
                </a:solidFill>
                <a:latin typeface="Aptos"/>
              </a:rPr>
              <a:t>Example: T½ ≈ 1.55 days*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58784" y="1005840"/>
            <a:ext cx="312724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23960" y="1225296"/>
            <a:ext cx="260604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D89E43"/>
                </a:solidFill>
                <a:latin typeface="Aptos"/>
              </a:rPr>
              <a:t>DECISION OUTPUT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1920240"/>
            <a:ext cx="2514600" cy="868680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52560" y="2039112"/>
            <a:ext cx="6858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D8B59"/>
                </a:solidFill>
                <a:latin typeface="Aptos"/>
              </a:rPr>
              <a:t>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2029968"/>
            <a:ext cx="14173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D22"/>
                </a:solidFill>
                <a:latin typeface="Aptos"/>
              </a:rPr>
              <a:t>Monitor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69680" y="3017520"/>
            <a:ext cx="2514600" cy="868680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FAF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52560" y="3136391"/>
            <a:ext cx="6858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89E43"/>
                </a:solidFill>
                <a:latin typeface="Aptos"/>
              </a:rPr>
              <a:t>MEDIUM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3127248"/>
            <a:ext cx="14173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D22"/>
                </a:solidFill>
                <a:latin typeface="Aptos"/>
              </a:rPr>
              <a:t>Sample / inspect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4114800"/>
            <a:ext cx="2514600" cy="868680"/>
          </a:xfrm>
          <a:prstGeom prst="roundRect">
            <a:avLst/>
          </a:prstGeom>
          <a:solidFill>
            <a:srgbClr val="FAE8E6"/>
          </a:solidFill>
          <a:ln w="12700">
            <a:solidFill>
              <a:srgbClr val="F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52560" y="4233672"/>
            <a:ext cx="685800" cy="21945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E4C46"/>
                </a:solidFill>
                <a:latin typeface="Aptos"/>
              </a:rPr>
              <a:t>HIGH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84080" y="4224528"/>
            <a:ext cx="1417320" cy="36576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D22"/>
                </a:solidFill>
                <a:latin typeface="Aptos"/>
              </a:rPr>
              <a:t>Hold / clean / advise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7968" y="5394960"/>
            <a:ext cx="242316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5B696C"/>
                </a:solidFill>
                <a:latin typeface="Aptos"/>
              </a:rPr>
              <a:t>RECOVERY WINDOW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961120" y="5806440"/>
            <a:ext cx="2286000" cy="0"/>
          </a:xfrm>
          <a:prstGeom prst="line">
            <a:avLst/>
          </a:prstGeom>
          <a:ln w="38100">
            <a:solidFill>
              <a:srgbClr val="127E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906256" y="5751576"/>
            <a:ext cx="118872" cy="118872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32520" y="5925312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96C"/>
                </a:solidFill>
                <a:latin typeface="Aptos"/>
              </a:rPr>
              <a:t>0h</a:t>
            </a:r>
          </a:p>
        </p:txBody>
      </p:sp>
      <p:sp>
        <p:nvSpPr>
          <p:cNvPr id="64" name="Oval 63"/>
          <p:cNvSpPr/>
          <p:nvPr/>
        </p:nvSpPr>
        <p:spPr>
          <a:xfrm>
            <a:off x="9665208" y="5751576"/>
            <a:ext cx="118872" cy="118872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91472" y="5925312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96C"/>
                </a:solidFill>
                <a:latin typeface="Aptos"/>
              </a:rPr>
              <a:t>24h</a:t>
            </a:r>
          </a:p>
        </p:txBody>
      </p:sp>
      <p:sp>
        <p:nvSpPr>
          <p:cNvPr id="66" name="Oval 65"/>
          <p:cNvSpPr/>
          <p:nvPr/>
        </p:nvSpPr>
        <p:spPr>
          <a:xfrm>
            <a:off x="10424160" y="5751576"/>
            <a:ext cx="118872" cy="118872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250424" y="5925312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96C"/>
                </a:solidFill>
                <a:latin typeface="Aptos"/>
              </a:rPr>
              <a:t>48h</a:t>
            </a:r>
          </a:p>
        </p:txBody>
      </p:sp>
      <p:sp>
        <p:nvSpPr>
          <p:cNvPr id="68" name="Oval 67"/>
          <p:cNvSpPr/>
          <p:nvPr/>
        </p:nvSpPr>
        <p:spPr>
          <a:xfrm>
            <a:off x="11183112" y="5751576"/>
            <a:ext cx="118872" cy="118872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009376" y="5925312"/>
            <a:ext cx="45720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B696C"/>
                </a:solidFill>
                <a:latin typeface="Aptos"/>
              </a:rPr>
              <a:t>72h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27E76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56032"/>
            <a:ext cx="7955279" cy="4572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41D22"/>
                </a:solidFill>
                <a:latin typeface="Aptos"/>
              </a:rPr>
              <a:t>Challenges • Future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320" y="301752"/>
            <a:ext cx="33375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B696C"/>
                </a:solidFill>
                <a:latin typeface="Aptos"/>
              </a:rPr>
              <a:t>MAKE IT DEPLOYABLE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3401568" cy="2286000"/>
          </a:xfrm>
          <a:prstGeom prst="roundRect">
            <a:avLst/>
          </a:prstGeom>
          <a:solidFill>
            <a:srgbClr val="FAE8E6"/>
          </a:solidFill>
          <a:ln w="12700">
            <a:solidFill>
              <a:srgbClr val="FA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303580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E4C46"/>
                </a:solidFill>
                <a:latin typeface="Aptos"/>
              </a:rPr>
              <a:t>CHALLENGES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91440" cy="91440"/>
          </a:xfrm>
          <a:prstGeom prst="ellipse">
            <a:avLst/>
          </a:prstGeom>
          <a:solidFill>
            <a:srgbClr val="BE4C46"/>
          </a:solidFill>
          <a:ln w="1270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Cloud cover / missing scenes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94560"/>
            <a:ext cx="91440" cy="91440"/>
          </a:xfrm>
          <a:prstGeom prst="ellipse">
            <a:avLst/>
          </a:prstGeom>
          <a:solidFill>
            <a:srgbClr val="BE4C46"/>
          </a:solidFill>
          <a:ln w="1270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Ground-truth variability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06040"/>
            <a:ext cx="91440" cy="91440"/>
          </a:xfrm>
          <a:prstGeom prst="ellipse">
            <a:avLst/>
          </a:prstGeom>
          <a:solidFill>
            <a:srgbClr val="BE4C46"/>
          </a:solidFill>
          <a:ln w="12700">
            <a:solidFill>
              <a:srgbClr val="BE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Flowing water is hard to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60120"/>
            <a:ext cx="3401568" cy="2286000"/>
          </a:xfrm>
          <a:prstGeom prst="roundRect">
            <a:avLst/>
          </a:prstGeom>
          <a:solidFill>
            <a:srgbClr val="E2F3F0"/>
          </a:solidFill>
          <a:ln w="12700">
            <a:solidFill>
              <a:srgbClr val="E2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170432"/>
            <a:ext cx="303580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27E76"/>
                </a:solidFill>
                <a:latin typeface="Aptos"/>
              </a:rPr>
              <a:t>FUTURE SCOPE</a:t>
            </a:r>
          </a:p>
        </p:txBody>
      </p:sp>
      <p:sp>
        <p:nvSpPr>
          <p:cNvPr id="15" name="Oval 14"/>
          <p:cNvSpPr/>
          <p:nvPr/>
        </p:nvSpPr>
        <p:spPr>
          <a:xfrm>
            <a:off x="4480559" y="1783080"/>
            <a:ext cx="91440" cy="91440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69164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Live 7-sensor fusion</a:t>
            </a:r>
          </a:p>
        </p:txBody>
      </p:sp>
      <p:sp>
        <p:nvSpPr>
          <p:cNvPr id="17" name="Oval 16"/>
          <p:cNvSpPr/>
          <p:nvPr/>
        </p:nvSpPr>
        <p:spPr>
          <a:xfrm>
            <a:off x="4480559" y="2194560"/>
            <a:ext cx="91440" cy="91440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10312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Reach-level AI forecasting</a:t>
            </a:r>
          </a:p>
        </p:txBody>
      </p:sp>
      <p:sp>
        <p:nvSpPr>
          <p:cNvPr id="19" name="Oval 18"/>
          <p:cNvSpPr/>
          <p:nvPr/>
        </p:nvSpPr>
        <p:spPr>
          <a:xfrm>
            <a:off x="4480559" y="2606040"/>
            <a:ext cx="91440" cy="91440"/>
          </a:xfrm>
          <a:prstGeom prst="ellipse">
            <a:avLst/>
          </a:prstGeom>
          <a:solidFill>
            <a:srgbClr val="127E76"/>
          </a:solidFill>
          <a:ln w="12700">
            <a:solidFill>
              <a:srgbClr val="12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51460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Scale to other river basins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960120"/>
            <a:ext cx="3401568" cy="2286000"/>
          </a:xfrm>
          <a:prstGeom prst="roundRect">
            <a:avLst/>
          </a:prstGeom>
          <a:solidFill>
            <a:srgbClr val="FAF1DC"/>
          </a:solidFill>
          <a:ln w="12700">
            <a:solidFill>
              <a:srgbClr val="FAF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1170432"/>
            <a:ext cx="3035808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D89E43"/>
                </a:solidFill>
                <a:latin typeface="Aptos"/>
              </a:rPr>
              <a:t>CONCLUSION</a:t>
            </a:r>
          </a:p>
        </p:txBody>
      </p:sp>
      <p:sp>
        <p:nvSpPr>
          <p:cNvPr id="23" name="Oval 22"/>
          <p:cNvSpPr/>
          <p:nvPr/>
        </p:nvSpPr>
        <p:spPr>
          <a:xfrm>
            <a:off x="8138160" y="1783080"/>
            <a:ext cx="91440" cy="91440"/>
          </a:xfrm>
          <a:prstGeom prst="ellipse">
            <a:avLst/>
          </a:prstGeom>
          <a:solidFill>
            <a:srgbClr val="D89E43"/>
          </a:solidFill>
          <a:ln w="127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169164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From data → recovery clock</a:t>
            </a:r>
          </a:p>
        </p:txBody>
      </p:sp>
      <p:sp>
        <p:nvSpPr>
          <p:cNvPr id="25" name="Oval 24"/>
          <p:cNvSpPr/>
          <p:nvPr/>
        </p:nvSpPr>
        <p:spPr>
          <a:xfrm>
            <a:off x="8138160" y="2194560"/>
            <a:ext cx="91440" cy="91440"/>
          </a:xfrm>
          <a:prstGeom prst="ellipse">
            <a:avLst/>
          </a:prstGeom>
          <a:solidFill>
            <a:srgbClr val="D89E43"/>
          </a:solidFill>
          <a:ln w="127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10312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From clock → action window</a:t>
            </a:r>
          </a:p>
        </p:txBody>
      </p:sp>
      <p:sp>
        <p:nvSpPr>
          <p:cNvPr id="27" name="Oval 26"/>
          <p:cNvSpPr/>
          <p:nvPr/>
        </p:nvSpPr>
        <p:spPr>
          <a:xfrm>
            <a:off x="8138160" y="2606040"/>
            <a:ext cx="91440" cy="91440"/>
          </a:xfrm>
          <a:prstGeom prst="ellipse">
            <a:avLst/>
          </a:prstGeom>
          <a:solidFill>
            <a:srgbClr val="D89E43"/>
          </a:solidFill>
          <a:ln w="12700">
            <a:solidFill>
              <a:srgbClr val="D8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2514600"/>
            <a:ext cx="256032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141D22"/>
                </a:solidFill>
                <a:latin typeface="Aptos"/>
              </a:rPr>
              <a:t>From action →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566160"/>
            <a:ext cx="1071676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3776472"/>
            <a:ext cx="31089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C6BA3"/>
                </a:solidFill>
                <a:latin typeface="Aptos"/>
              </a:rPr>
              <a:t>DATA &amp; RESOURCES USED</a:t>
            </a:r>
          </a:p>
        </p:txBody>
      </p:sp>
      <p:sp>
        <p:nvSpPr>
          <p:cNvPr id="31" name="Oval 30"/>
          <p:cNvSpPr/>
          <p:nvPr/>
        </p:nvSpPr>
        <p:spPr>
          <a:xfrm>
            <a:off x="804672" y="4370831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315968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Sentinel-2 L2A • Copernicus / Google Earth Engine</a:t>
            </a:r>
          </a:p>
        </p:txBody>
      </p:sp>
      <p:sp>
        <p:nvSpPr>
          <p:cNvPr id="33" name="Oval 32"/>
          <p:cNvSpPr/>
          <p:nvPr/>
        </p:nvSpPr>
        <p:spPr>
          <a:xfrm>
            <a:off x="804672" y="4764023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709159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Landsat 8/9 • USGS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5157216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102352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Sentinel-1 SAR • Copernicus</a:t>
            </a:r>
          </a:p>
        </p:txBody>
      </p:sp>
      <p:sp>
        <p:nvSpPr>
          <p:cNvPr id="37" name="Oval 36"/>
          <p:cNvSpPr/>
          <p:nvPr/>
        </p:nvSpPr>
        <p:spPr>
          <a:xfrm>
            <a:off x="804672" y="5550407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5495544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MPCB Nashik Water Quality • pH, DO, BOD, COD, nitrate, fecal coliform, WQI</a:t>
            </a:r>
          </a:p>
        </p:txBody>
      </p:sp>
      <p:sp>
        <p:nvSpPr>
          <p:cNvPr id="39" name="Oval 38"/>
          <p:cNvSpPr/>
          <p:nvPr/>
        </p:nvSpPr>
        <p:spPr>
          <a:xfrm>
            <a:off x="5971032" y="4370831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0" y="4315968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Open-Meteo • weather context</a:t>
            </a:r>
          </a:p>
        </p:txBody>
      </p:sp>
      <p:sp>
        <p:nvSpPr>
          <p:cNvPr id="41" name="Oval 40"/>
          <p:cNvSpPr/>
          <p:nvPr/>
        </p:nvSpPr>
        <p:spPr>
          <a:xfrm>
            <a:off x="5971032" y="4764023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4709159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Nominatim + Overpass API • geocoding / river-way context</a:t>
            </a:r>
          </a:p>
        </p:txBody>
      </p:sp>
      <p:sp>
        <p:nvSpPr>
          <p:cNvPr id="43" name="Oval 42"/>
          <p:cNvSpPr/>
          <p:nvPr/>
        </p:nvSpPr>
        <p:spPr>
          <a:xfrm>
            <a:off x="5971032" y="5157216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5102352"/>
            <a:ext cx="470916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41D22"/>
                </a:solidFill>
                <a:latin typeface="Aptos"/>
              </a:rPr>
              <a:t>Godavari Recovery Intelligence source deck • 10-year Sentinel-2 archive / 385 scenes</a:t>
            </a:r>
          </a:p>
        </p:txBody>
      </p:sp>
      <p:sp>
        <p:nvSpPr>
          <p:cNvPr id="45" name="Oval 44"/>
          <p:cNvSpPr/>
          <p:nvPr/>
        </p:nvSpPr>
        <p:spPr>
          <a:xfrm>
            <a:off x="5971032" y="5550407"/>
            <a:ext cx="82296" cy="82296"/>
          </a:xfrm>
          <a:prstGeom prst="ellipse">
            <a:avLst/>
          </a:prstGeom>
          <a:solidFill>
            <a:srgbClr val="2C6BA3"/>
          </a:solidFill>
          <a:ln w="12700">
            <a:solidFill>
              <a:srgbClr val="2C6B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26480" y="5495544"/>
            <a:ext cx="4719955" cy="2336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1050" b="0">
                <a:solidFill>
                  <a:srgbClr val="141D22"/>
                </a:solidFill>
                <a:latin typeface="Aptos"/>
              </a:rPr>
              <a:t>S</a:t>
            </a:r>
            <a:r>
              <a:rPr sz="1050" b="0">
                <a:solidFill>
                  <a:srgbClr val="141D22"/>
                </a:solidFill>
                <a:latin typeface="Aptos"/>
              </a:rPr>
              <a:t>atellite scope document • satellite + IoT/field + laboratory + data architecture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428232"/>
            <a:ext cx="6400800" cy="22860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27E76"/>
                </a:solidFill>
                <a:latin typeface="Aptos"/>
              </a:rPr>
              <a:t>JalAarogya  |  Observe • Predict • Protect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6400800"/>
            <a:ext cx="4983480" cy="27432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5B696C"/>
                </a:solidFill>
                <a:latin typeface="Aptos"/>
              </a:rPr>
              <a:t>*Recovery half-life is a relative optical proxy and requires field/lab validation before bathing-safety claims.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557</Words>
  <Application>Microsoft Office PowerPoint</Application>
  <PresentationFormat>Widescreen</PresentationFormat>
  <Paragraphs>152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Aryaman Tripathy</cp:lastModifiedBy>
  <cp:revision>4</cp:revision>
  <dcterms:created xsi:type="dcterms:W3CDTF">2013-01-27T09:14:00Z</dcterms:created>
  <dcterms:modified xsi:type="dcterms:W3CDTF">2026-09-07T12:05:21Z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3211A8665BCF453995079334C2463054_12</vt:lpwstr>
  </property>
  <property fmtid="{D5CDD505-2E9C-101B-9397-08002B2CF9AE}" pid="3" name="KSOProductBuildVer">
    <vt:lpwstr>1033-12.1.0.28032</vt:lpwstr>
  </property>
</Properties>
</file>